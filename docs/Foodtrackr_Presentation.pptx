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A3DA1-BE20-C790-E391-C199AE289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66BF4-A184-85FF-947C-D5BF87EEE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93D5F-3C3E-3096-67F2-CAC568B2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0E063-D50B-3BF1-99F5-0EA876F4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9311B-B057-5C72-B78D-BC12969D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0450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6714-F4B1-AB0A-8797-E140F984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1C296-CE47-55B1-C179-0C349B434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66FB0-019E-AAB4-486C-59F45154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90191-1F3B-A25C-D460-E0035EDF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C326A-FB18-47EB-17F5-1F730B8F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3695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2E87A-6C23-4866-17A5-7357D372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02680-F60C-B589-0B06-0514BC2DB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DB37-49AE-7E34-E413-65973ECB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01CB4-E5E0-BA46-BF2A-66BD233E6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4FECF-7A20-2837-F527-7863CC87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327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E1A4-58B1-1CAD-9FE8-CC7E9577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5B853-92D6-DFD3-90BD-C19CF8900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EBB71-11DF-E0FD-DEE4-1338F2A5F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24FD0-2FC5-7C8B-812F-F40198AA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E7EB0-BBF5-5138-710C-F4EDDDF6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2863A-CA7D-FDF5-0873-B1C7DA64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9021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B31C-9A68-FB44-C9F5-BB40F280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D3A4-CAFF-3693-B269-DD3A4663C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C7ADD-0DE9-09BE-2788-49691A547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080D0-9326-E8BE-BE93-DE185D7B1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B3BB4C-FC85-9C75-E21F-27DB2E836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85BF6-464D-FF41-8F9C-66A596F9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077E4-D3CC-9B8A-B3B0-5DF0CC05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231E0A-22E6-10EF-DBFF-0FD983AF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6019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31B8-869D-80BD-72FB-B7E8DCAB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D5EDA-25C0-1BBA-9C1D-02B44458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BECC7-9F49-C3B5-B973-9F9C7B93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F0E8E-A254-DE4F-F56D-D5067AF3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2694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7C3A4-8CED-CF28-5A25-38D3CDD7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16E8F-E2BF-D745-0169-BFE0287D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A14EA-6BCE-0C3B-1BB4-AA8616E5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0097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C8BE-C113-8079-B1B1-D7C4D3427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C5357-1028-B0D4-E978-745131CDC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E216D-4A27-6E3C-4B0A-7A93160A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3D232-BDDC-3BA8-CD5E-C4F30FF5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68B3B-E963-F85E-C9F4-12059692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D9BC1-2E55-D2AE-B2BF-876BEFC2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6702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E6AA-191B-BDC6-4298-4359907FB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1719B-02D1-C00C-811D-57C8B19A4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75D5C-C866-A977-B6C7-A3529C497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5420-67CF-AE58-67A6-DE173035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10F71-56C2-D7AF-0003-28E4786FC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C2470-8CCD-B1AF-20D1-6CC4FC07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4522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B644-CA85-A6B1-3D9E-17C602EF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7C930-B00D-70C1-17C7-40DEA6CD4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BBF24-2D13-6E79-77B8-A1FC4CE9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B2AD7-0118-8B4F-715A-4B252021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FF83E-0931-FF7A-83CD-AD167E59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0247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1362B6-52E8-8FBD-1BCA-479407459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2D26D-286F-2338-FBA3-093028580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4428-0275-A596-2ABB-05429ECE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E37E-09F9-DE8D-B1D1-323A0E75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55D6C-784B-4BCE-8CD0-BF51ADAE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7868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B8B14-E9D8-62EC-CBA3-E4696D52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FA046-4E92-DFEE-E5CB-909CBB1B3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7C5E-9729-F016-BB75-C8427F713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EA327-20A4-4C88-8043-884057C81AD8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6FA4B-C481-06D9-C32B-031FB51F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DE27A-E799-10FD-C88E-4D6E57CC6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6B789-D50C-45DE-889A-AD82187F681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5225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71B27D-4FAF-9CEC-6EED-B442A3F84672}"/>
              </a:ext>
            </a:extLst>
          </p:cNvPr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1F3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BD4322-F2CD-B5C9-D91E-195FFB1EDD45}"/>
              </a:ext>
            </a:extLst>
          </p:cNvPr>
          <p:cNvSpPr/>
          <p:nvPr/>
        </p:nvSpPr>
        <p:spPr>
          <a:xfrm>
            <a:off x="762000" y="1905000"/>
            <a:ext cx="330200" cy="330200"/>
          </a:xfrm>
          <a:prstGeom prst="ellipse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3447B-4361-4B41-EDC7-A25F73CC4E80}"/>
              </a:ext>
            </a:extLst>
          </p:cNvPr>
          <p:cNvSpPr txBox="1"/>
          <p:nvPr/>
        </p:nvSpPr>
        <p:spPr>
          <a:xfrm>
            <a:off x="762000" y="22225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6000" b="1">
                <a:solidFill>
                  <a:srgbClr val="FFFFFF"/>
                </a:solidFill>
                <a:latin typeface="Calibri" panose="020F0502020204030204" pitchFamily="34" charset="0"/>
              </a:rPr>
              <a:t>Foodtrackr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8EEB1-A899-C2E1-AFA9-029AB6943BE7}"/>
              </a:ext>
            </a:extLst>
          </p:cNvPr>
          <p:cNvSpPr txBox="1"/>
          <p:nvPr/>
        </p:nvSpPr>
        <p:spPr>
          <a:xfrm>
            <a:off x="787400" y="34290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300">
                <a:solidFill>
                  <a:srgbClr val="E8F4E8"/>
                </a:solidFill>
                <a:latin typeface="Calibri" panose="020F0502020204030204" pitchFamily="34" charset="0"/>
              </a:rPr>
              <a:t>Clinical nutrition tracking for nursing &amp; exercise-science students</a:t>
            </a:r>
            <a:endParaRPr lang="en-NZ" sz="2300">
              <a:solidFill>
                <a:srgbClr val="E8F4E8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DC55F-2468-E923-A54A-D67AE5CCC8D7}"/>
              </a:ext>
            </a:extLst>
          </p:cNvPr>
          <p:cNvSpPr txBox="1"/>
          <p:nvPr/>
        </p:nvSpPr>
        <p:spPr>
          <a:xfrm>
            <a:off x="787400" y="5969000"/>
            <a:ext cx="1041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97BC62"/>
                </a:solidFill>
                <a:latin typeface="Calibri" panose="020F0502020204030204" pitchFamily="34" charset="0"/>
              </a:rPr>
              <a:t>Taylor Kloss   .   D301 Software Engineering   .   UCOL 2026</a:t>
            </a:r>
            <a:endParaRPr lang="en-NZ" sz="1500">
              <a:solidFill>
                <a:srgbClr val="97BC6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63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45FBA0A-788C-1849-CEE6-53E5774A2911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9095B-DCD9-9C8B-F7B0-699EEEE0C8A8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What is Foodtrackr?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8F310-00D3-B19E-4F12-80710345AA95}"/>
              </a:ext>
            </a:extLst>
          </p:cNvPr>
          <p:cNvSpPr txBox="1"/>
          <p:nvPr/>
        </p:nvSpPr>
        <p:spPr>
          <a:xfrm>
            <a:off x="762000" y="16510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1A2E1A"/>
                </a:solidFill>
                <a:latin typeface="Calibri" panose="020F0502020204030204" pitchFamily="34" charset="0"/>
              </a:rPr>
              <a:t>A clinical nutrition tool that turns a patient's daily food intake into actionable insight. Clinicians-in-training build profiles, log meals from official NZ data, and instantly see how intake measures up to recommended dietary intakes.</a:t>
            </a:r>
            <a:endParaRPr lang="en-NZ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72EC91-45D8-9463-4B0E-D15FDBDA867C}"/>
              </a:ext>
            </a:extLst>
          </p:cNvPr>
          <p:cNvSpPr/>
          <p:nvPr/>
        </p:nvSpPr>
        <p:spPr>
          <a:xfrm>
            <a:off x="6858000" y="1930400"/>
            <a:ext cx="279400" cy="2794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6C2EB-ACF4-59C5-E6C1-4877146FE3AB}"/>
              </a:ext>
            </a:extLst>
          </p:cNvPr>
          <p:cNvSpPr txBox="1"/>
          <p:nvPr/>
        </p:nvSpPr>
        <p:spPr>
          <a:xfrm>
            <a:off x="7340600" y="1905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700" b="1">
                <a:solidFill>
                  <a:srgbClr val="235C3A"/>
                </a:solidFill>
                <a:latin typeface="Calibri" panose="020F0502020204030204" pitchFamily="34" charset="0"/>
              </a:rPr>
              <a:t>Create patient profiles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5414D-73E3-7786-584F-77AEE29D8D48}"/>
              </a:ext>
            </a:extLst>
          </p:cNvPr>
          <p:cNvSpPr txBox="1"/>
          <p:nvPr/>
        </p:nvSpPr>
        <p:spPr>
          <a:xfrm>
            <a:off x="7340600" y="22352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6B7C6B"/>
                </a:solidFill>
                <a:latin typeface="Calibri" panose="020F0502020204030204" pitchFamily="34" charset="0"/>
              </a:rPr>
              <a:t>Manage the people in their care</a:t>
            </a:r>
            <a:endParaRPr lang="en-NZ" sz="14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C19400-1D80-F0B7-B08F-D0377B3D4259}"/>
              </a:ext>
            </a:extLst>
          </p:cNvPr>
          <p:cNvSpPr/>
          <p:nvPr/>
        </p:nvSpPr>
        <p:spPr>
          <a:xfrm>
            <a:off x="6858000" y="3098800"/>
            <a:ext cx="279400" cy="2794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A3CCC-5281-FA13-C482-B5F9280D3C71}"/>
              </a:ext>
            </a:extLst>
          </p:cNvPr>
          <p:cNvSpPr txBox="1"/>
          <p:nvPr/>
        </p:nvSpPr>
        <p:spPr>
          <a:xfrm>
            <a:off x="7340600" y="30734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700" b="1">
                <a:solidFill>
                  <a:srgbClr val="235C3A"/>
                </a:solidFill>
                <a:latin typeface="Calibri" panose="020F0502020204030204" pitchFamily="34" charset="0"/>
              </a:rPr>
              <a:t>Log from NZ FOODfiles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26914F-A524-C915-447E-0778E24E82A3}"/>
              </a:ext>
            </a:extLst>
          </p:cNvPr>
          <p:cNvSpPr txBox="1"/>
          <p:nvPr/>
        </p:nvSpPr>
        <p:spPr>
          <a:xfrm>
            <a:off x="7340600" y="3403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Official NZ food-composition data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9874E2-2376-F34B-6E18-C27F66C9DDBD}"/>
              </a:ext>
            </a:extLst>
          </p:cNvPr>
          <p:cNvSpPr/>
          <p:nvPr/>
        </p:nvSpPr>
        <p:spPr>
          <a:xfrm>
            <a:off x="6858000" y="4267200"/>
            <a:ext cx="279400" cy="2794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748C76-CDB5-E801-2CC9-1ED8E5EE9CB3}"/>
              </a:ext>
            </a:extLst>
          </p:cNvPr>
          <p:cNvSpPr txBox="1"/>
          <p:nvPr/>
        </p:nvSpPr>
        <p:spPr>
          <a:xfrm>
            <a:off x="7340600" y="42418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700" b="1">
                <a:solidFill>
                  <a:srgbClr val="235C3A"/>
                </a:solidFill>
                <a:latin typeface="Calibri" panose="020F0502020204030204" pitchFamily="34" charset="0"/>
              </a:rPr>
              <a:t>Analyse against NZ RDIs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145B81-FE6C-D686-B0E8-6F89AF57E636}"/>
              </a:ext>
            </a:extLst>
          </p:cNvPr>
          <p:cNvSpPr txBox="1"/>
          <p:nvPr/>
        </p:nvSpPr>
        <p:spPr>
          <a:xfrm>
            <a:off x="7340600" y="4572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Flags deficiencies and excesses</a:t>
            </a:r>
          </a:p>
        </p:txBody>
      </p:sp>
    </p:spTree>
    <p:extLst>
      <p:ext uri="{BB962C8B-B14F-4D97-AF65-F5344CB8AC3E}">
        <p14:creationId xmlns:p14="http://schemas.microsoft.com/office/powerpoint/2010/main" val="287940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6EAD9C1-EF45-C523-833B-5C5766C39058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67C0E-44B6-2D2C-02C6-89FAD715B2A1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8B9739-AC27-BA6D-F812-04494B9884D4}"/>
              </a:ext>
            </a:extLst>
          </p:cNvPr>
          <p:cNvSpPr/>
          <p:nvPr/>
        </p:nvSpPr>
        <p:spPr>
          <a:xfrm>
            <a:off x="762000" y="2921000"/>
            <a:ext cx="2921000" cy="12192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9C579-02BA-17D2-68B7-C452568B1DF5}"/>
              </a:ext>
            </a:extLst>
          </p:cNvPr>
          <p:cNvSpPr txBox="1"/>
          <p:nvPr/>
        </p:nvSpPr>
        <p:spPr>
          <a:xfrm>
            <a:off x="762000" y="32004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MAUI app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31AE4-F49F-90F9-BE60-80498FBB12A8}"/>
              </a:ext>
            </a:extLst>
          </p:cNvPr>
          <p:cNvSpPr txBox="1"/>
          <p:nvPr/>
        </p:nvSpPr>
        <p:spPr>
          <a:xfrm>
            <a:off x="762000" y="36068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300">
                <a:solidFill>
                  <a:srgbClr val="6B7C6B"/>
                </a:solidFill>
                <a:latin typeface="Calibri" panose="020F0502020204030204" pitchFamily="34" charset="0"/>
              </a:rPr>
              <a:t>(Android)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51F065-3358-02C4-5ABE-013CF090252A}"/>
              </a:ext>
            </a:extLst>
          </p:cNvPr>
          <p:cNvSpPr/>
          <p:nvPr/>
        </p:nvSpPr>
        <p:spPr>
          <a:xfrm>
            <a:off x="4635500" y="2921000"/>
            <a:ext cx="2921000" cy="12192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AEFDC-B100-3DF1-149C-A7647D1761DF}"/>
              </a:ext>
            </a:extLst>
          </p:cNvPr>
          <p:cNvSpPr txBox="1"/>
          <p:nvPr/>
        </p:nvSpPr>
        <p:spPr>
          <a:xfrm>
            <a:off x="4635500" y="32004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ASP.NET Core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3CC6FA-EF8C-5557-181B-601210997CF5}"/>
              </a:ext>
            </a:extLst>
          </p:cNvPr>
          <p:cNvSpPr txBox="1"/>
          <p:nvPr/>
        </p:nvSpPr>
        <p:spPr>
          <a:xfrm>
            <a:off x="4635500" y="36068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300">
                <a:solidFill>
                  <a:srgbClr val="6B7C6B"/>
                </a:solidFill>
                <a:latin typeface="Calibri" panose="020F0502020204030204" pitchFamily="34" charset="0"/>
              </a:rPr>
              <a:t>(Render)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5AB3D3-EA0E-DE0F-6B73-2FFB00D46939}"/>
              </a:ext>
            </a:extLst>
          </p:cNvPr>
          <p:cNvSpPr/>
          <p:nvPr/>
        </p:nvSpPr>
        <p:spPr>
          <a:xfrm>
            <a:off x="8509000" y="2921000"/>
            <a:ext cx="2921000" cy="12192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27C4E-1267-A6BE-544F-87283586BC75}"/>
              </a:ext>
            </a:extLst>
          </p:cNvPr>
          <p:cNvSpPr txBox="1"/>
          <p:nvPr/>
        </p:nvSpPr>
        <p:spPr>
          <a:xfrm>
            <a:off x="8509000" y="32004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PostgreSQL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C1658-7E85-BC05-5F39-FAB5323B2F32}"/>
              </a:ext>
            </a:extLst>
          </p:cNvPr>
          <p:cNvSpPr txBox="1"/>
          <p:nvPr/>
        </p:nvSpPr>
        <p:spPr>
          <a:xfrm>
            <a:off x="8509000" y="36068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300">
                <a:solidFill>
                  <a:srgbClr val="6B7C6B"/>
                </a:solidFill>
                <a:latin typeface="Calibri" panose="020F0502020204030204" pitchFamily="34" charset="0"/>
              </a:rPr>
              <a:t>(database)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5910EC-5B62-0348-705B-D7A3FF68ED49}"/>
              </a:ext>
            </a:extLst>
          </p:cNvPr>
          <p:cNvCxnSpPr/>
          <p:nvPr/>
        </p:nvCxnSpPr>
        <p:spPr>
          <a:xfrm>
            <a:off x="3683000" y="3530600"/>
            <a:ext cx="952500" cy="0"/>
          </a:xfrm>
          <a:prstGeom prst="line">
            <a:avLst/>
          </a:prstGeom>
          <a:ln w="31750">
            <a:solidFill>
              <a:srgbClr val="3D8B5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6AC4C2-8EF4-9172-B9EB-AA209B6F1608}"/>
              </a:ext>
            </a:extLst>
          </p:cNvPr>
          <p:cNvCxnSpPr/>
          <p:nvPr/>
        </p:nvCxnSpPr>
        <p:spPr>
          <a:xfrm>
            <a:off x="7556500" y="3530600"/>
            <a:ext cx="952500" cy="0"/>
          </a:xfrm>
          <a:prstGeom prst="line">
            <a:avLst/>
          </a:prstGeom>
          <a:ln w="31750">
            <a:solidFill>
              <a:srgbClr val="3D8B5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85F7810-7EB6-7AA6-50AA-95A9EEE6B702}"/>
              </a:ext>
            </a:extLst>
          </p:cNvPr>
          <p:cNvSpPr txBox="1"/>
          <p:nvPr/>
        </p:nvSpPr>
        <p:spPr>
          <a:xfrm>
            <a:off x="3175000" y="30734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200" b="1">
                <a:solidFill>
                  <a:srgbClr val="3D8B5E"/>
                </a:solidFill>
                <a:latin typeface="Calibri" panose="020F0502020204030204" pitchFamily="34" charset="0"/>
              </a:rPr>
              <a:t>HTTPS . JWT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D58C61-6370-98DF-0903-29C35DC6B575}"/>
              </a:ext>
            </a:extLst>
          </p:cNvPr>
          <p:cNvSpPr txBox="1"/>
          <p:nvPr/>
        </p:nvSpPr>
        <p:spPr>
          <a:xfrm>
            <a:off x="7048500" y="30734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200" b="1">
                <a:solidFill>
                  <a:srgbClr val="3D8B5E"/>
                </a:solidFill>
                <a:latin typeface="Calibri" panose="020F0502020204030204" pitchFamily="34" charset="0"/>
              </a:rPr>
              <a:t>EF Core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FA8152-B7F8-945C-C82D-D3DDC3C10DED}"/>
              </a:ext>
            </a:extLst>
          </p:cNvPr>
          <p:cNvSpPr txBox="1"/>
          <p:nvPr/>
        </p:nvSpPr>
        <p:spPr>
          <a:xfrm>
            <a:off x="762000" y="482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600">
                <a:solidFill>
                  <a:srgbClr val="6B7C6B"/>
                </a:solidFill>
                <a:latin typeface="Calibri" panose="020F0502020204030204" pitchFamily="34" charset="0"/>
              </a:rPr>
              <a:t>The app never touches the database directly - every request goes through the API.</a:t>
            </a:r>
            <a:endParaRPr lang="en-NZ" sz="16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34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64DE185-9A44-A8E8-7D86-307DEC7C24A3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C528C-5CB5-B37A-71ED-7D543DE02F09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Technology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9657EA-FEB4-7C39-4960-39036C5E3AB2}"/>
              </a:ext>
            </a:extLst>
          </p:cNvPr>
          <p:cNvSpPr/>
          <p:nvPr/>
        </p:nvSpPr>
        <p:spPr>
          <a:xfrm>
            <a:off x="762000" y="177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B707A-6638-48D4-87E1-7371DDF5A5DF}"/>
              </a:ext>
            </a:extLst>
          </p:cNvPr>
          <p:cNvSpPr txBox="1"/>
          <p:nvPr/>
        </p:nvSpPr>
        <p:spPr>
          <a:xfrm>
            <a:off x="1041400" y="21082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.NET MAUI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27C36-4DB1-C9CD-9F5A-51608A44FCAB}"/>
              </a:ext>
            </a:extLst>
          </p:cNvPr>
          <p:cNvSpPr txBox="1"/>
          <p:nvPr/>
        </p:nvSpPr>
        <p:spPr>
          <a:xfrm>
            <a:off x="1041400" y="2565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Cross-platform app (C#)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79CD4E-2F6D-010E-5550-E8754DA13856}"/>
              </a:ext>
            </a:extLst>
          </p:cNvPr>
          <p:cNvSpPr/>
          <p:nvPr/>
        </p:nvSpPr>
        <p:spPr>
          <a:xfrm>
            <a:off x="4445000" y="177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46354F-830A-A368-BF37-9D0B0D41842E}"/>
              </a:ext>
            </a:extLst>
          </p:cNvPr>
          <p:cNvSpPr txBox="1"/>
          <p:nvPr/>
        </p:nvSpPr>
        <p:spPr>
          <a:xfrm>
            <a:off x="4724400" y="21082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ASP.NET 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80B9D-BF65-EA68-F6C2-459C5D71DDDF}"/>
              </a:ext>
            </a:extLst>
          </p:cNvPr>
          <p:cNvSpPr txBox="1"/>
          <p:nvPr/>
        </p:nvSpPr>
        <p:spPr>
          <a:xfrm>
            <a:off x="4724400" y="2565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Web API back-end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C01CF6-BDCA-6015-2803-ADF287FFBE91}"/>
              </a:ext>
            </a:extLst>
          </p:cNvPr>
          <p:cNvSpPr/>
          <p:nvPr/>
        </p:nvSpPr>
        <p:spPr>
          <a:xfrm>
            <a:off x="8128000" y="177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99FBF-BBDD-CD2F-F68C-45C678CC76F4}"/>
              </a:ext>
            </a:extLst>
          </p:cNvPr>
          <p:cNvSpPr txBox="1"/>
          <p:nvPr/>
        </p:nvSpPr>
        <p:spPr>
          <a:xfrm>
            <a:off x="8407400" y="21082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PostgreSQL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FB8E9-7B43-C27C-DBE3-3562C75D3AA6}"/>
              </a:ext>
            </a:extLst>
          </p:cNvPr>
          <p:cNvSpPr txBox="1"/>
          <p:nvPr/>
        </p:nvSpPr>
        <p:spPr>
          <a:xfrm>
            <a:off x="8407400" y="2565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Hosted on Render (SQLite for dev)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4C1997-C812-0DF5-E2A1-4476B78BD055}"/>
              </a:ext>
            </a:extLst>
          </p:cNvPr>
          <p:cNvSpPr/>
          <p:nvPr/>
        </p:nvSpPr>
        <p:spPr>
          <a:xfrm>
            <a:off x="762000" y="3937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A8CD7-9699-E60D-5303-AB17B3B210F0}"/>
              </a:ext>
            </a:extLst>
          </p:cNvPr>
          <p:cNvSpPr txBox="1"/>
          <p:nvPr/>
        </p:nvSpPr>
        <p:spPr>
          <a:xfrm>
            <a:off x="1041400" y="42672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Identity + JWT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88E8C-EF15-E4D9-10C5-DB75FB24B131}"/>
              </a:ext>
            </a:extLst>
          </p:cNvPr>
          <p:cNvSpPr txBox="1"/>
          <p:nvPr/>
        </p:nvSpPr>
        <p:spPr>
          <a:xfrm>
            <a:off x="1041400" y="4724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Authentication &amp; tokens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73FA08-D2EA-0932-8333-DF83F889B2E5}"/>
              </a:ext>
            </a:extLst>
          </p:cNvPr>
          <p:cNvSpPr/>
          <p:nvPr/>
        </p:nvSpPr>
        <p:spPr>
          <a:xfrm>
            <a:off x="4445000" y="3937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4F2A3-E48B-6EE7-D211-56BF0D3CE1ED}"/>
              </a:ext>
            </a:extLst>
          </p:cNvPr>
          <p:cNvSpPr txBox="1"/>
          <p:nvPr/>
        </p:nvSpPr>
        <p:spPr>
          <a:xfrm>
            <a:off x="4724400" y="42672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Entity Framework Core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0A3814-B05E-9F16-75B5-BCE10822AA88}"/>
              </a:ext>
            </a:extLst>
          </p:cNvPr>
          <p:cNvSpPr txBox="1"/>
          <p:nvPr/>
        </p:nvSpPr>
        <p:spPr>
          <a:xfrm>
            <a:off x="4724400" y="4724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Database ORM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F8E2EC7-92DC-6F6D-1407-9496B1A8AE08}"/>
              </a:ext>
            </a:extLst>
          </p:cNvPr>
          <p:cNvSpPr/>
          <p:nvPr/>
        </p:nvSpPr>
        <p:spPr>
          <a:xfrm>
            <a:off x="8128000" y="3937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E3AB91-9573-05CD-BC9B-E026C8A12869}"/>
              </a:ext>
            </a:extLst>
          </p:cNvPr>
          <p:cNvSpPr txBox="1"/>
          <p:nvPr/>
        </p:nvSpPr>
        <p:spPr>
          <a:xfrm>
            <a:off x="8407400" y="42672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xUnit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519F50-B0D4-B170-94CA-E6D6298D1CE7}"/>
              </a:ext>
            </a:extLst>
          </p:cNvPr>
          <p:cNvSpPr txBox="1"/>
          <p:nvPr/>
        </p:nvSpPr>
        <p:spPr>
          <a:xfrm>
            <a:off x="8407400" y="4724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39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126824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56E6189-9331-79F1-CE98-978D654177BF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A6474-1FCD-3C9A-0EA0-13F6D12470E1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ED0DB-253E-C2C9-99A6-0FC697B49110}"/>
              </a:ext>
            </a:extLst>
          </p:cNvPr>
          <p:cNvSpPr txBox="1"/>
          <p:nvPr/>
        </p:nvSpPr>
        <p:spPr>
          <a:xfrm>
            <a:off x="762000" y="1905000"/>
            <a:ext cx="520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400"/>
              </a:spcAft>
            </a:pPr>
            <a:r>
              <a:rPr lang="en-US" sz="1900">
                <a:solidFill>
                  <a:srgbClr val="1A2E1A"/>
                </a:solidFill>
                <a:latin typeface="Calibri" panose="020F0502020204030204" pitchFamily="34" charset="0"/>
              </a:rPr>
              <a:t>•  User registration &amp; login</a:t>
            </a:r>
          </a:p>
          <a:p>
            <a:pPr>
              <a:spcAft>
                <a:spcPts val="1400"/>
              </a:spcAft>
            </a:pPr>
            <a:r>
              <a:rPr lang="en-US" sz="1900">
                <a:solidFill>
                  <a:srgbClr val="1A2E1A"/>
                </a:solidFill>
                <a:latin typeface="Calibri" panose="020F0502020204030204" pitchFamily="34" charset="0"/>
              </a:rPr>
              <a:t>•  Patient profile management</a:t>
            </a:r>
          </a:p>
          <a:p>
            <a:pPr>
              <a:spcAft>
                <a:spcPts val="1400"/>
              </a:spcAft>
            </a:pPr>
            <a:r>
              <a:rPr lang="en-US" sz="1900">
                <a:solidFill>
                  <a:srgbClr val="1A2E1A"/>
                </a:solidFill>
                <a:latin typeface="Calibri" panose="020F0502020204030204" pitchFamily="34" charset="0"/>
              </a:rPr>
              <a:t>•  Live food search (NZ FOODfiles)</a:t>
            </a:r>
            <a:endParaRPr lang="en-NZ" sz="1900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B7FC2-668D-45FB-4965-978F435BD51D}"/>
              </a:ext>
            </a:extLst>
          </p:cNvPr>
          <p:cNvSpPr txBox="1"/>
          <p:nvPr/>
        </p:nvSpPr>
        <p:spPr>
          <a:xfrm>
            <a:off x="6477000" y="1905000"/>
            <a:ext cx="520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400"/>
              </a:spcAft>
            </a:pPr>
            <a:r>
              <a:rPr lang="en-US" sz="1900">
                <a:solidFill>
                  <a:srgbClr val="1A2E1A"/>
                </a:solidFill>
                <a:latin typeface="Calibri" panose="020F0502020204030204" pitchFamily="34" charset="0"/>
              </a:rPr>
              <a:t>•  Food logging - portions &amp; meals</a:t>
            </a:r>
          </a:p>
          <a:p>
            <a:pPr>
              <a:spcAft>
                <a:spcPts val="1400"/>
              </a:spcAft>
            </a:pPr>
            <a:r>
              <a:rPr lang="en-US" sz="1900">
                <a:solidFill>
                  <a:srgbClr val="1A2E1A"/>
                </a:solidFill>
                <a:latin typeface="Calibri" panose="020F0502020204030204" pitchFamily="34" charset="0"/>
              </a:rPr>
              <a:t>•  Daily nutrition totals &amp; macros</a:t>
            </a:r>
          </a:p>
          <a:p>
            <a:pPr>
              <a:spcAft>
                <a:spcPts val="1400"/>
              </a:spcAft>
            </a:pPr>
            <a:r>
              <a:rPr lang="en-US" sz="1900">
                <a:solidFill>
                  <a:srgbClr val="1A2E1A"/>
                </a:solidFill>
                <a:latin typeface="Calibri" panose="020F0502020204030204" pitchFamily="34" charset="0"/>
              </a:rPr>
              <a:t>•  RDI compliance flags</a:t>
            </a:r>
          </a:p>
          <a:p>
            <a:pPr>
              <a:spcAft>
                <a:spcPts val="1400"/>
              </a:spcAft>
            </a:pPr>
            <a:r>
              <a:rPr lang="en-US" sz="1900">
                <a:solidFill>
                  <a:srgbClr val="1A2E1A"/>
                </a:solidFill>
                <a:latin typeface="Calibri" panose="020F0502020204030204" pitchFamily="34" charset="0"/>
              </a:rPr>
              <a:t>•  Date navigation</a:t>
            </a:r>
            <a:endParaRPr lang="en-NZ" sz="1900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335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2A9082F-29E9-0B18-5D8C-C56529EF1E70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9ED8A-96D9-D8C1-A182-9050DD448883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Inside the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72F4C-9EF2-8772-80B7-F9C8797574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524000"/>
            <a:ext cx="2159000" cy="4673600"/>
          </a:xfrm>
          <a:prstGeom prst="rect">
            <a:avLst/>
          </a:prstGeom>
          <a:effectLst>
            <a:outerShdw blurRad="101600" dist="37357" dir="2700000" rotWithShape="0">
              <a:scrgbClr r="0" g="0" b="0">
                <a:alpha val="30000"/>
              </a:sc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268A27-3A2A-804E-87F5-B82683025393}"/>
              </a:ext>
            </a:extLst>
          </p:cNvPr>
          <p:cNvSpPr txBox="1"/>
          <p:nvPr/>
        </p:nvSpPr>
        <p:spPr>
          <a:xfrm>
            <a:off x="635000" y="6299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300" b="1">
                <a:solidFill>
                  <a:srgbClr val="235C3A"/>
                </a:solidFill>
                <a:latin typeface="Calibri" panose="020F0502020204030204" pitchFamily="34" charset="0"/>
              </a:rPr>
              <a:t>Sign 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1762F2-0553-83CD-BC67-84062E83BF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1524000"/>
            <a:ext cx="2159000" cy="4673600"/>
          </a:xfrm>
          <a:prstGeom prst="rect">
            <a:avLst/>
          </a:prstGeom>
          <a:effectLst>
            <a:outerShdw blurRad="101600" dist="37357" dir="2700000" rotWithShape="0">
              <a:scrgbClr r="0" g="0" b="0">
                <a:alpha val="30000"/>
              </a:sc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420856-525F-4C3F-EADE-418BCAFD8427}"/>
              </a:ext>
            </a:extLst>
          </p:cNvPr>
          <p:cNvSpPr txBox="1"/>
          <p:nvPr/>
        </p:nvSpPr>
        <p:spPr>
          <a:xfrm>
            <a:off x="3556000" y="6299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300" b="1">
                <a:solidFill>
                  <a:srgbClr val="235C3A"/>
                </a:solidFill>
                <a:latin typeface="Calibri" panose="020F0502020204030204" pitchFamily="34" charset="0"/>
              </a:rPr>
              <a:t>Patients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81936A-2D90-E494-1829-D539F51DB86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524000"/>
            <a:ext cx="2159000" cy="4673600"/>
          </a:xfrm>
          <a:prstGeom prst="rect">
            <a:avLst/>
          </a:prstGeom>
          <a:effectLst>
            <a:outerShdw blurRad="101600" dist="37357" dir="2700000" rotWithShape="0">
              <a:scrgbClr r="0" g="0" b="0">
                <a:alpha val="30000"/>
              </a:sc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35F055-A4F1-21AE-3FA6-C587425D9F22}"/>
              </a:ext>
            </a:extLst>
          </p:cNvPr>
          <p:cNvSpPr txBox="1"/>
          <p:nvPr/>
        </p:nvSpPr>
        <p:spPr>
          <a:xfrm>
            <a:off x="6477000" y="6299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300" b="1">
                <a:solidFill>
                  <a:srgbClr val="235C3A"/>
                </a:solidFill>
                <a:latin typeface="Calibri" panose="020F0502020204030204" pitchFamily="34" charset="0"/>
              </a:rPr>
              <a:t>Daily log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44D31A-29EE-2E7C-0D52-B12E130134B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1524000"/>
            <a:ext cx="2159000" cy="4673600"/>
          </a:xfrm>
          <a:prstGeom prst="rect">
            <a:avLst/>
          </a:prstGeom>
          <a:effectLst>
            <a:outerShdw blurRad="101600" dist="37357" dir="2700000" rotWithShape="0">
              <a:scrgbClr r="0" g="0" b="0">
                <a:alpha val="30000"/>
              </a:sc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318387-A742-2A7C-D778-F156E81DC94A}"/>
              </a:ext>
            </a:extLst>
          </p:cNvPr>
          <p:cNvSpPr txBox="1"/>
          <p:nvPr/>
        </p:nvSpPr>
        <p:spPr>
          <a:xfrm>
            <a:off x="9398000" y="6299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300" b="1">
                <a:solidFill>
                  <a:srgbClr val="235C3A"/>
                </a:solidFill>
                <a:latin typeface="Calibri" panose="020F0502020204030204" pitchFamily="34" charset="0"/>
              </a:rPr>
              <a:t>RDI report</a:t>
            </a:r>
          </a:p>
        </p:txBody>
      </p:sp>
    </p:spTree>
    <p:extLst>
      <p:ext uri="{BB962C8B-B14F-4D97-AF65-F5344CB8AC3E}">
        <p14:creationId xmlns:p14="http://schemas.microsoft.com/office/powerpoint/2010/main" val="196770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5F04617-3331-7D8D-BD87-687697FB0945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01B1F-25A5-1D20-6756-05A94090052E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Nutritional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9FBD1-2F87-8F12-16CA-0340C9205D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206500"/>
            <a:ext cx="2540000" cy="5499100"/>
          </a:xfrm>
          <a:prstGeom prst="rect">
            <a:avLst/>
          </a:prstGeom>
          <a:effectLst>
            <a:outerShdw blurRad="101600" dist="37357" dir="2700000" rotWithShape="0">
              <a:scrgbClr r="0" g="0" b="0">
                <a:alpha val="30000"/>
              </a:sc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4E590E-060B-E166-9823-CCB0EA20AA44}"/>
              </a:ext>
            </a:extLst>
          </p:cNvPr>
          <p:cNvSpPr txBox="1"/>
          <p:nvPr/>
        </p:nvSpPr>
        <p:spPr>
          <a:xfrm>
            <a:off x="4064000" y="1371600"/>
            <a:ext cx="723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900" b="1" dirty="0">
                <a:solidFill>
                  <a:srgbClr val="235C3A"/>
                </a:solidFill>
                <a:latin typeface="Calibri" panose="020F0502020204030204" pitchFamily="34" charset="0"/>
              </a:rPr>
              <a:t>Converting </a:t>
            </a:r>
            <a:r>
              <a:rPr lang="en-NZ" sz="1900" b="1" dirty="0" err="1">
                <a:solidFill>
                  <a:srgbClr val="235C3A"/>
                </a:solidFill>
                <a:latin typeface="Calibri" panose="020F0502020204030204" pitchFamily="34" charset="0"/>
              </a:rPr>
              <a:t>rwa</a:t>
            </a:r>
            <a:r>
              <a:rPr lang="en-NZ" sz="1900" b="1" dirty="0">
                <a:solidFill>
                  <a:srgbClr val="235C3A"/>
                </a:solidFill>
                <a:latin typeface="Calibri" panose="020F0502020204030204" pitchFamily="34" charset="0"/>
              </a:rPr>
              <a:t> food data into a professional clinical assessment.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D4E3FA-2869-F2BA-572E-72B609EE5FDE}"/>
              </a:ext>
            </a:extLst>
          </p:cNvPr>
          <p:cNvSpPr/>
          <p:nvPr/>
        </p:nvSpPr>
        <p:spPr>
          <a:xfrm>
            <a:off x="4064000" y="23749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99437-3211-6DF9-C378-8050F2933B52}"/>
              </a:ext>
            </a:extLst>
          </p:cNvPr>
          <p:cNvSpPr txBox="1"/>
          <p:nvPr/>
        </p:nvSpPr>
        <p:spPr>
          <a:xfrm>
            <a:off x="4445000" y="23495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600" b="1">
                <a:solidFill>
                  <a:srgbClr val="235C3A"/>
                </a:solidFill>
                <a:latin typeface="Calibri" panose="020F0502020204030204" pitchFamily="34" charset="0"/>
              </a:rPr>
              <a:t>Energy vs RDI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1EE8D-64F3-67A9-A133-165968AA1345}"/>
              </a:ext>
            </a:extLst>
          </p:cNvPr>
          <p:cNvSpPr txBox="1"/>
          <p:nvPr/>
        </p:nvSpPr>
        <p:spPr>
          <a:xfrm>
            <a:off x="4445000" y="26797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6B7C6B"/>
                </a:solidFill>
                <a:latin typeface="Calibri" panose="020F0502020204030204" pitchFamily="34" charset="0"/>
              </a:rPr>
              <a:t>667 of 2000 kcal, with a live progress bar</a:t>
            </a:r>
            <a:endParaRPr lang="en-NZ" sz="14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071776-83AF-3985-1C81-463B8289CED7}"/>
              </a:ext>
            </a:extLst>
          </p:cNvPr>
          <p:cNvSpPr/>
          <p:nvPr/>
        </p:nvSpPr>
        <p:spPr>
          <a:xfrm>
            <a:off x="4064000" y="34417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7AEFA-CD88-E8A6-7FA4-9169994BFE61}"/>
              </a:ext>
            </a:extLst>
          </p:cNvPr>
          <p:cNvSpPr txBox="1"/>
          <p:nvPr/>
        </p:nvSpPr>
        <p:spPr>
          <a:xfrm>
            <a:off x="4445000" y="34163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600" b="1">
                <a:solidFill>
                  <a:srgbClr val="235C3A"/>
                </a:solidFill>
                <a:latin typeface="Calibri" panose="020F0502020204030204" pitchFamily="34" charset="0"/>
              </a:rPr>
              <a:t>Macros vs RDI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80236F-089F-26E2-26D3-4C8E0E369949}"/>
              </a:ext>
            </a:extLst>
          </p:cNvPr>
          <p:cNvSpPr txBox="1"/>
          <p:nvPr/>
        </p:nvSpPr>
        <p:spPr>
          <a:xfrm>
            <a:off x="4445000" y="37465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6B7C6B"/>
                </a:solidFill>
                <a:latin typeface="Calibri" panose="020F0502020204030204" pitchFamily="34" charset="0"/>
              </a:rPr>
              <a:t>protein, carbs &amp; fat as a % of target</a:t>
            </a:r>
            <a:endParaRPr lang="en-NZ" sz="14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AEF576-EF21-155B-F34A-1546021C7201}"/>
              </a:ext>
            </a:extLst>
          </p:cNvPr>
          <p:cNvSpPr/>
          <p:nvPr/>
        </p:nvSpPr>
        <p:spPr>
          <a:xfrm>
            <a:off x="4064000" y="45085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B455D-DBF7-65E4-11F8-F670991DA8BA}"/>
              </a:ext>
            </a:extLst>
          </p:cNvPr>
          <p:cNvSpPr txBox="1"/>
          <p:nvPr/>
        </p:nvSpPr>
        <p:spPr>
          <a:xfrm>
            <a:off x="4445000" y="44831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600" b="1">
                <a:solidFill>
                  <a:srgbClr val="235C3A"/>
                </a:solidFill>
                <a:latin typeface="Calibri" panose="020F0502020204030204" pitchFamily="34" charset="0"/>
              </a:rPr>
              <a:t>Calories by meal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6B9FDA-FEB7-F3AB-73AD-9B12A9BE3485}"/>
              </a:ext>
            </a:extLst>
          </p:cNvPr>
          <p:cNvSpPr txBox="1"/>
          <p:nvPr/>
        </p:nvSpPr>
        <p:spPr>
          <a:xfrm>
            <a:off x="4445000" y="48133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sv-SE" sz="1400">
                <a:solidFill>
                  <a:srgbClr val="6B7C6B"/>
                </a:solidFill>
                <a:latin typeface="Calibri" panose="020F0502020204030204" pitchFamily="34" charset="0"/>
              </a:rPr>
              <a:t>breakfast, lunch, dinner &amp; snack split</a:t>
            </a:r>
            <a:endParaRPr lang="en-NZ" sz="14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818C859-B5D3-07AC-38B0-82B4185A12AB}"/>
              </a:ext>
            </a:extLst>
          </p:cNvPr>
          <p:cNvSpPr/>
          <p:nvPr/>
        </p:nvSpPr>
        <p:spPr>
          <a:xfrm>
            <a:off x="4064000" y="55753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AAE51-0574-3F03-C7B3-70D3FA57F721}"/>
              </a:ext>
            </a:extLst>
          </p:cNvPr>
          <p:cNvSpPr txBox="1"/>
          <p:nvPr/>
        </p:nvSpPr>
        <p:spPr>
          <a:xfrm>
            <a:off x="4445000" y="55499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600" b="1">
                <a:solidFill>
                  <a:srgbClr val="235C3A"/>
                </a:solidFill>
                <a:latin typeface="Calibri" panose="020F0502020204030204" pitchFamily="34" charset="0"/>
              </a:rPr>
              <a:t>Nutrient flags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FF678F-7F23-B17F-B4CD-B711DB63A6AE}"/>
              </a:ext>
            </a:extLst>
          </p:cNvPr>
          <p:cNvSpPr txBox="1"/>
          <p:nvPr/>
        </p:nvSpPr>
        <p:spPr>
          <a:xfrm>
            <a:off x="4445000" y="58801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automatic deficiency / excess warnings</a:t>
            </a:r>
          </a:p>
        </p:txBody>
      </p:sp>
    </p:spTree>
    <p:extLst>
      <p:ext uri="{BB962C8B-B14F-4D97-AF65-F5344CB8AC3E}">
        <p14:creationId xmlns:p14="http://schemas.microsoft.com/office/powerpoint/2010/main" val="3880766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D197265-8BE1-DF23-2389-A7379189EBC2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045B3-FC80-1F0E-E63C-DF702879C5E3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Authentication &amp; data security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1F9586-7826-8444-3877-AA8862219EF8}"/>
              </a:ext>
            </a:extLst>
          </p:cNvPr>
          <p:cNvSpPr/>
          <p:nvPr/>
        </p:nvSpPr>
        <p:spPr>
          <a:xfrm>
            <a:off x="762000" y="1778000"/>
            <a:ext cx="5080000" cy="3683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19E59-F1E5-2F68-92F3-24A4A7ACAA78}"/>
              </a:ext>
            </a:extLst>
          </p:cNvPr>
          <p:cNvSpPr txBox="1"/>
          <p:nvPr/>
        </p:nvSpPr>
        <p:spPr>
          <a:xfrm>
            <a:off x="1117600" y="2057400"/>
            <a:ext cx="4368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Authentication (JWT)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FEA18-2CDC-188F-39D3-C1F1DF651A73}"/>
              </a:ext>
            </a:extLst>
          </p:cNvPr>
          <p:cNvSpPr txBox="1"/>
          <p:nvPr/>
        </p:nvSpPr>
        <p:spPr>
          <a:xfrm>
            <a:off x="1117600" y="2540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sz="1500">
                <a:solidFill>
                  <a:srgbClr val="1A2E1A"/>
                </a:solidFill>
                <a:latin typeface="Calibri" panose="020F0502020204030204" pitchFamily="34" charset="0"/>
              </a:rPr>
              <a:t>•  Login verifies a hashed password</a:t>
            </a:r>
          </a:p>
          <a:p>
            <a:pPr>
              <a:spcAft>
                <a:spcPts val="1200"/>
              </a:spcAft>
            </a:pPr>
            <a:r>
              <a:rPr lang="en-US" sz="1500">
                <a:solidFill>
                  <a:srgbClr val="1A2E1A"/>
                </a:solidFill>
                <a:latin typeface="Calibri" panose="020F0502020204030204" pitchFamily="34" charset="0"/>
              </a:rPr>
              <a:t>•  API returns a signed token (JWT)</a:t>
            </a:r>
          </a:p>
          <a:p>
            <a:pPr>
              <a:spcAft>
                <a:spcPts val="1200"/>
              </a:spcAft>
            </a:pPr>
            <a:r>
              <a:rPr lang="en-US" sz="1500">
                <a:solidFill>
                  <a:srgbClr val="1A2E1A"/>
                </a:solidFill>
                <a:latin typeface="Calibri" panose="020F0502020204030204" pitchFamily="34" charset="0"/>
              </a:rPr>
              <a:t>•  App sends it as a Bearer header on every request</a:t>
            </a:r>
          </a:p>
          <a:p>
            <a:pPr>
              <a:spcAft>
                <a:spcPts val="1200"/>
              </a:spcAft>
            </a:pPr>
            <a:r>
              <a:rPr lang="en-US" sz="1500">
                <a:solidFill>
                  <a:srgbClr val="1A2E1A"/>
                </a:solidFill>
                <a:latin typeface="Calibri" panose="020F0502020204030204" pitchFamily="34" charset="0"/>
              </a:rPr>
              <a:t>•  [Authorize] rejects missing/invalid tokens (401)</a:t>
            </a:r>
            <a:endParaRPr lang="en-NZ" sz="1500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DCD465-19E3-15C3-AD1D-F978816804A5}"/>
              </a:ext>
            </a:extLst>
          </p:cNvPr>
          <p:cNvSpPr/>
          <p:nvPr/>
        </p:nvSpPr>
        <p:spPr>
          <a:xfrm>
            <a:off x="6350000" y="1778000"/>
            <a:ext cx="5080000" cy="3683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08DDF-1DA7-2D4E-CE38-7B126DFC2DDD}"/>
              </a:ext>
            </a:extLst>
          </p:cNvPr>
          <p:cNvSpPr txBox="1"/>
          <p:nvPr/>
        </p:nvSpPr>
        <p:spPr>
          <a:xfrm>
            <a:off x="6705600" y="2057400"/>
            <a:ext cx="4368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Per-user data isolation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2C2D5-4043-D7B5-EC5A-0285A067F2AB}"/>
              </a:ext>
            </a:extLst>
          </p:cNvPr>
          <p:cNvSpPr txBox="1"/>
          <p:nvPr/>
        </p:nvSpPr>
        <p:spPr>
          <a:xfrm>
            <a:off x="6705600" y="2540000"/>
            <a:ext cx="436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sz="1500">
                <a:solidFill>
                  <a:srgbClr val="1A2E1A"/>
                </a:solidFill>
                <a:latin typeface="Calibri" panose="020F0502020204030204" pitchFamily="34" charset="0"/>
              </a:rPr>
              <a:t>•  Token carries the user's id</a:t>
            </a:r>
          </a:p>
          <a:p>
            <a:pPr>
              <a:spcAft>
                <a:spcPts val="1200"/>
              </a:spcAft>
            </a:pPr>
            <a:r>
              <a:rPr lang="en-US" sz="1500">
                <a:solidFill>
                  <a:srgbClr val="1A2E1A"/>
                </a:solidFill>
                <a:latin typeface="Calibri" panose="020F0502020204030204" pitchFamily="34" charset="0"/>
              </a:rPr>
              <a:t>•  Every query filters by that id</a:t>
            </a:r>
          </a:p>
          <a:p>
            <a:pPr>
              <a:spcAft>
                <a:spcPts val="1200"/>
              </a:spcAft>
            </a:pPr>
            <a:r>
              <a:rPr lang="en-US" sz="1500">
                <a:solidFill>
                  <a:srgbClr val="1A2E1A"/>
                </a:solidFill>
                <a:latin typeface="Calibri" panose="020F0502020204030204" pitchFamily="34" charset="0"/>
              </a:rPr>
              <a:t>•  Another user's record -&gt; 404 Not Found</a:t>
            </a:r>
          </a:p>
          <a:p>
            <a:pPr>
              <a:spcAft>
                <a:spcPts val="1200"/>
              </a:spcAft>
            </a:pPr>
            <a:r>
              <a:rPr lang="en-US" sz="1500">
                <a:solidFill>
                  <a:srgbClr val="1A2E1A"/>
                </a:solidFill>
                <a:latin typeface="Calibri" panose="020F0502020204030204" pitchFamily="34" charset="0"/>
              </a:rPr>
              <a:t>•  Proven by automated isolation tests</a:t>
            </a:r>
            <a:endParaRPr lang="en-NZ" sz="1500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540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78C9960-E98A-6F39-F2F2-379BB34FB485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96947-940D-0C0A-9E0B-133EE951DE05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Implementation: authentication (JWT)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CDBD4-4078-BFFD-EF6A-240DC6AF08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397000"/>
            <a:ext cx="8648700" cy="5207000"/>
          </a:xfrm>
          <a:prstGeom prst="rect">
            <a:avLst/>
          </a:prstGeom>
          <a:effectLst>
            <a:outerShdw blurRad="127000" dist="37357" dir="2700000" rotWithShape="0">
              <a:scrgbClr r="0" g="0" b="0">
                <a:alpha val="45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5808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D1D07CF-8300-BD23-56C2-C796569147A6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B0EFF-901B-62D1-7590-5FAE272E5DBF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235C3A"/>
                </a:solidFill>
                <a:latin typeface="Calibri" panose="020F0502020204030204" pitchFamily="34" charset="0"/>
              </a:rPr>
              <a:t>Design spotlight: a timezone bug</a:t>
            </a:r>
            <a:endParaRPr lang="en-NZ" sz="2800" b="1">
              <a:solidFill>
                <a:srgbClr val="235C3A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ED2279-552F-E5F5-13EF-DEA5630CF631}"/>
              </a:ext>
            </a:extLst>
          </p:cNvPr>
          <p:cNvSpPr/>
          <p:nvPr/>
        </p:nvSpPr>
        <p:spPr>
          <a:xfrm>
            <a:off x="762000" y="1651000"/>
            <a:ext cx="3429000" cy="3810000"/>
          </a:xfrm>
          <a:prstGeom prst="roundRect">
            <a:avLst>
              <a:gd name="adj" fmla="val 6000"/>
            </a:avLst>
          </a:prstGeom>
          <a:solidFill>
            <a:srgbClr val="FAEB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07A5A-1EF9-28C2-11B8-8C524F76B5CD}"/>
              </a:ext>
            </a:extLst>
          </p:cNvPr>
          <p:cNvSpPr txBox="1"/>
          <p:nvPr/>
        </p:nvSpPr>
        <p:spPr>
          <a:xfrm>
            <a:off x="1016000" y="1905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700" b="1">
                <a:solidFill>
                  <a:srgbClr val="96342A"/>
                </a:solidFill>
                <a:latin typeface="Calibri" panose="020F0502020204030204" pitchFamily="34" charset="0"/>
              </a:rPr>
              <a:t>Symptom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7F201-4897-B520-85B1-9978E6526D64}"/>
              </a:ext>
            </a:extLst>
          </p:cNvPr>
          <p:cNvSpPr txBox="1"/>
          <p:nvPr/>
        </p:nvSpPr>
        <p:spPr>
          <a:xfrm>
            <a:off x="1016000" y="23876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1A2E1A"/>
                </a:solidFill>
                <a:latin typeface="Calibri" panose="020F0502020204030204" pitchFamily="34" charset="0"/>
              </a:rPr>
              <a:t>Food logged successfully - the app said 'Success!' - but it never appeared on the daily view. Totals showed 0 kcal.</a:t>
            </a:r>
            <a:endParaRPr lang="en-NZ" sz="1400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61A8F8-BB7F-E2E7-2AB8-7A0E1BF4633E}"/>
              </a:ext>
            </a:extLst>
          </p:cNvPr>
          <p:cNvSpPr/>
          <p:nvPr/>
        </p:nvSpPr>
        <p:spPr>
          <a:xfrm>
            <a:off x="4445000" y="1651000"/>
            <a:ext cx="3429000" cy="381000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F50D8-CFB4-3EAA-149B-A817630CD057}"/>
              </a:ext>
            </a:extLst>
          </p:cNvPr>
          <p:cNvSpPr txBox="1"/>
          <p:nvPr/>
        </p:nvSpPr>
        <p:spPr>
          <a:xfrm>
            <a:off x="4699000" y="1905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700" b="1">
                <a:solidFill>
                  <a:srgbClr val="825C14"/>
                </a:solidFill>
                <a:latin typeface="Calibri" panose="020F0502020204030204" pitchFamily="34" charset="0"/>
              </a:rPr>
              <a:t>Root cause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017D7-7E79-846F-BF69-5FAA0B246F9D}"/>
              </a:ext>
            </a:extLst>
          </p:cNvPr>
          <p:cNvSpPr txBox="1"/>
          <p:nvPr/>
        </p:nvSpPr>
        <p:spPr>
          <a:xfrm>
            <a:off x="4699000" y="23876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1A2E1A"/>
                </a:solidFill>
                <a:latin typeface="Calibri" panose="020F0502020204030204" pitchFamily="34" charset="0"/>
              </a:rPr>
              <a:t>Timestamps are stored in UTC (required by PostgreSQL's timestamptz), but the daily view filtered by the local date. NZ is UTC+12, so entries near midnight landed on the wrong day.</a:t>
            </a:r>
            <a:endParaRPr lang="en-NZ" sz="1400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C80583-7D10-E4B9-C939-773C1FE12103}"/>
              </a:ext>
            </a:extLst>
          </p:cNvPr>
          <p:cNvSpPr/>
          <p:nvPr/>
        </p:nvSpPr>
        <p:spPr>
          <a:xfrm>
            <a:off x="8128000" y="1651000"/>
            <a:ext cx="3429000" cy="38100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5D683-40C6-B006-5D4F-B24D1F46A73C}"/>
              </a:ext>
            </a:extLst>
          </p:cNvPr>
          <p:cNvSpPr txBox="1"/>
          <p:nvPr/>
        </p:nvSpPr>
        <p:spPr>
          <a:xfrm>
            <a:off x="8382000" y="1905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700" b="1">
                <a:solidFill>
                  <a:srgbClr val="235C3A"/>
                </a:solidFill>
                <a:latin typeface="Calibri" panose="020F0502020204030204" pitchFamily="34" charset="0"/>
              </a:rPr>
              <a:t>The fix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79619-26D5-E09E-00BE-834586B3052A}"/>
              </a:ext>
            </a:extLst>
          </p:cNvPr>
          <p:cNvSpPr txBox="1"/>
          <p:nvPr/>
        </p:nvSpPr>
        <p:spPr>
          <a:xfrm>
            <a:off x="8382000" y="23876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1A2E1A"/>
                </a:solidFill>
                <a:latin typeface="Calibri" panose="020F0502020204030204" pitchFamily="34" charset="0"/>
              </a:rPr>
              <a:t>Convert each timestamp to local time when grouping by day. Storage stays UTC; the day is judged locally. Store the instant in UTC, display in local.</a:t>
            </a:r>
            <a:endParaRPr lang="en-NZ" sz="1400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47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AB01A8D-72CA-A61D-CD59-A0586459F2CD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3C3BE-FE2A-31DA-1014-BD4381D3BA80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Implementation: the timezone fix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9B2E4-48EA-1E5D-9E23-6D15F4FCEC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1397000"/>
            <a:ext cx="9829800" cy="5207000"/>
          </a:xfrm>
          <a:prstGeom prst="rect">
            <a:avLst/>
          </a:prstGeom>
          <a:effectLst>
            <a:outerShdw blurRad="127000" dist="37357" dir="2700000" rotWithShape="0">
              <a:scrgbClr r="0" g="0" b="0">
                <a:alpha val="45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930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7369C94-604E-2E9A-FFFC-54FB4097C35A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902A28-25A6-5F8E-89A8-16797A29D126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Testing &amp; quality assurance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113CA-EEF5-B338-1420-731336B8BD1E}"/>
              </a:ext>
            </a:extLst>
          </p:cNvPr>
          <p:cNvSpPr txBox="1"/>
          <p:nvPr/>
        </p:nvSpPr>
        <p:spPr>
          <a:xfrm>
            <a:off x="762000" y="1905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3000" b="1">
                <a:solidFill>
                  <a:srgbClr val="3D8B5E"/>
                </a:solidFill>
                <a:latin typeface="Calibri" panose="020F0502020204030204" pitchFamily="34" charset="0"/>
              </a:rPr>
              <a:t>39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588A7-6367-B022-23CE-3FAC6B8F8F26}"/>
              </a:ext>
            </a:extLst>
          </p:cNvPr>
          <p:cNvSpPr txBox="1"/>
          <p:nvPr/>
        </p:nvSpPr>
        <p:spPr>
          <a:xfrm>
            <a:off x="838200" y="3810000"/>
            <a:ext cx="355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200" b="1">
                <a:solidFill>
                  <a:srgbClr val="235C3A"/>
                </a:solidFill>
                <a:latin typeface="Calibri" panose="020F0502020204030204" pitchFamily="34" charset="0"/>
              </a:rPr>
              <a:t>passing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7119A-CDC8-8B76-FFF6-5CF4E540B012}"/>
              </a:ext>
            </a:extLst>
          </p:cNvPr>
          <p:cNvSpPr txBox="1"/>
          <p:nvPr/>
        </p:nvSpPr>
        <p:spPr>
          <a:xfrm>
            <a:off x="838200" y="4267200"/>
            <a:ext cx="355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6B7C6B"/>
                </a:solidFill>
                <a:latin typeface="Calibri" panose="020F0502020204030204" pitchFamily="34" charset="0"/>
              </a:rPr>
              <a:t>run live with: dotnet test</a:t>
            </a:r>
            <a:endParaRPr lang="en-NZ" sz="14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BC38F8-FDDC-2C89-BC6C-A3FE8EA2850D}"/>
              </a:ext>
            </a:extLst>
          </p:cNvPr>
          <p:cNvSpPr/>
          <p:nvPr/>
        </p:nvSpPr>
        <p:spPr>
          <a:xfrm>
            <a:off x="5080000" y="1930400"/>
            <a:ext cx="279400" cy="2794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53DE75-2B09-50C9-4D3A-7CD2086C78B5}"/>
              </a:ext>
            </a:extLst>
          </p:cNvPr>
          <p:cNvSpPr txBox="1"/>
          <p:nvPr/>
        </p:nvSpPr>
        <p:spPr>
          <a:xfrm>
            <a:off x="5562600" y="1905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Unit tests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D60BD-1EE4-67D4-FE98-152B037255CC}"/>
              </a:ext>
            </a:extLst>
          </p:cNvPr>
          <p:cNvSpPr txBox="1"/>
          <p:nvPr/>
        </p:nvSpPr>
        <p:spPr>
          <a:xfrm>
            <a:off x="5562600" y="22352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it-IT" sz="1400">
                <a:solidFill>
                  <a:srgbClr val="6B7C6B"/>
                </a:solidFill>
                <a:latin typeface="Calibri" panose="020F0502020204030204" pitchFamily="34" charset="0"/>
              </a:rPr>
              <a:t>Pure logic - RDI targets, calorie scaling</a:t>
            </a:r>
            <a:endParaRPr lang="en-NZ" sz="14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20836C-C588-E284-6A23-85F80C76B7D7}"/>
              </a:ext>
            </a:extLst>
          </p:cNvPr>
          <p:cNvSpPr/>
          <p:nvPr/>
        </p:nvSpPr>
        <p:spPr>
          <a:xfrm>
            <a:off x="5080000" y="2997200"/>
            <a:ext cx="279400" cy="2794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056A6-5716-1951-3EF5-D5A2D3F2EB72}"/>
              </a:ext>
            </a:extLst>
          </p:cNvPr>
          <p:cNvSpPr txBox="1"/>
          <p:nvPr/>
        </p:nvSpPr>
        <p:spPr>
          <a:xfrm>
            <a:off x="5562600" y="29718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Controller tests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22BDEC-5EB7-6B29-6EA6-114ECA25340B}"/>
              </a:ext>
            </a:extLst>
          </p:cNvPr>
          <p:cNvSpPr txBox="1"/>
          <p:nvPr/>
        </p:nvSpPr>
        <p:spPr>
          <a:xfrm>
            <a:off x="5562600" y="3302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6B7C6B"/>
                </a:solidFill>
                <a:latin typeface="Calibri" panose="020F0502020204030204" pitchFamily="34" charset="0"/>
              </a:rPr>
              <a:t>In-memory DB - CRUD, auth, data isolation</a:t>
            </a:r>
            <a:endParaRPr lang="en-NZ" sz="14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BD7A13-041B-A970-C604-44E7AE862CD6}"/>
              </a:ext>
            </a:extLst>
          </p:cNvPr>
          <p:cNvSpPr/>
          <p:nvPr/>
        </p:nvSpPr>
        <p:spPr>
          <a:xfrm>
            <a:off x="5080000" y="4064000"/>
            <a:ext cx="279400" cy="2794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54845-01B6-5BB4-34D4-1C4FA18CEBA0}"/>
              </a:ext>
            </a:extLst>
          </p:cNvPr>
          <p:cNvSpPr txBox="1"/>
          <p:nvPr/>
        </p:nvSpPr>
        <p:spPr>
          <a:xfrm>
            <a:off x="5562600" y="4038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b="1">
                <a:solidFill>
                  <a:srgbClr val="235C3A"/>
                </a:solidFill>
                <a:latin typeface="Calibri" panose="020F0502020204030204" pitchFamily="34" charset="0"/>
              </a:rPr>
              <a:t>Integration tests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EB0E13-90B1-242A-D51B-88D5F923C027}"/>
              </a:ext>
            </a:extLst>
          </p:cNvPr>
          <p:cNvSpPr txBox="1"/>
          <p:nvPr/>
        </p:nvSpPr>
        <p:spPr>
          <a:xfrm>
            <a:off x="5562600" y="43688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6B7C6B"/>
                </a:solidFill>
                <a:latin typeface="Calibri" panose="020F0502020204030204" pitchFamily="34" charset="0"/>
              </a:rPr>
              <a:t>WebApplicationFactory - full HTTP 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835DF0-7CC6-8798-3627-CA0F27F4009C}"/>
              </a:ext>
            </a:extLst>
          </p:cNvPr>
          <p:cNvSpPr txBox="1"/>
          <p:nvPr/>
        </p:nvSpPr>
        <p:spPr>
          <a:xfrm>
            <a:off x="5080000" y="51816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6B7C6B"/>
                </a:solidFill>
                <a:latin typeface="Calibri" panose="020F0502020204030204" pitchFamily="34" charset="0"/>
              </a:rPr>
              <a:t>xUnit  .  EF Core InMemory  .  isolated from production</a:t>
            </a:r>
            <a:endParaRPr lang="en-NZ" sz="1300">
              <a:solidFill>
                <a:srgbClr val="6B7C6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322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81AC511-B596-8D73-FB3C-6AEDAD4D2992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62DB0-3159-25A4-86C9-D7C728142E7A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Implementation: a data-isolation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E3A2E-2A19-F998-75BA-549B7251AE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397000"/>
            <a:ext cx="8763000" cy="5207000"/>
          </a:xfrm>
          <a:prstGeom prst="rect">
            <a:avLst/>
          </a:prstGeom>
          <a:effectLst>
            <a:outerShdw blurRad="127000" dist="37357" dir="2700000" rotWithShape="0">
              <a:scrgbClr r="0" g="0" b="0">
                <a:alpha val="45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8944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323BCCA-EF19-0EFB-914C-95853C0CBDB1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4246D-7B08-7B32-5933-A60A2AFDD546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Project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80F12-6706-8ADC-5C2E-DBC74139A74B}"/>
              </a:ext>
            </a:extLst>
          </p:cNvPr>
          <p:cNvSpPr txBox="1"/>
          <p:nvPr/>
        </p:nvSpPr>
        <p:spPr>
          <a:xfrm>
            <a:off x="762000" y="1905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600"/>
              </a:spcAft>
            </a:pPr>
            <a:r>
              <a:rPr lang="en-US" dirty="0">
                <a:solidFill>
                  <a:srgbClr val="1A2E1A"/>
                </a:solidFill>
                <a:latin typeface="Calibri" panose="020F0502020204030204" pitchFamily="34" charset="0"/>
              </a:rPr>
              <a:t>•  Commit history - migrations, fixes, then tests</a:t>
            </a:r>
          </a:p>
          <a:p>
            <a:pPr>
              <a:spcAft>
                <a:spcPts val="1600"/>
              </a:spcAft>
            </a:pPr>
            <a:r>
              <a:rPr lang="en-US" dirty="0">
                <a:solidFill>
                  <a:srgbClr val="1A2E1A"/>
                </a:solidFill>
                <a:latin typeface="Calibri" panose="020F0502020204030204" pitchFamily="34" charset="0"/>
              </a:rPr>
              <a:t>•  Work tracked as GitHub issues (#40-#45 testing)</a:t>
            </a:r>
          </a:p>
          <a:p>
            <a:pPr>
              <a:spcAft>
                <a:spcPts val="1600"/>
              </a:spcAft>
            </a:pPr>
            <a:r>
              <a:rPr lang="en-US" dirty="0">
                <a:solidFill>
                  <a:srgbClr val="1A2E1A"/>
                </a:solidFill>
                <a:latin typeface="Calibri" panose="020F0502020204030204" pitchFamily="34" charset="0"/>
              </a:rPr>
              <a:t>•  Branching used for feature work</a:t>
            </a:r>
          </a:p>
          <a:p>
            <a:pPr>
              <a:spcAft>
                <a:spcPts val="1600"/>
              </a:spcAft>
            </a:pPr>
            <a:r>
              <a:rPr lang="en-US" dirty="0">
                <a:solidFill>
                  <a:srgbClr val="1A2E1A"/>
                </a:solidFill>
                <a:latin typeface="Calibri" panose="020F0502020204030204" pitchFamily="34" charset="0"/>
              </a:rPr>
              <a:t>•  README documents the stack, setup &amp; how to test</a:t>
            </a:r>
            <a:endParaRPr lang="en-NZ" dirty="0">
              <a:solidFill>
                <a:srgbClr val="1A2E1A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A3C2A5-7A02-1E30-E9AB-AA7AE52ADF7E}"/>
              </a:ext>
            </a:extLst>
          </p:cNvPr>
          <p:cNvSpPr/>
          <p:nvPr/>
        </p:nvSpPr>
        <p:spPr>
          <a:xfrm>
            <a:off x="7112000" y="2032000"/>
            <a:ext cx="4445000" cy="1905000"/>
          </a:xfrm>
          <a:prstGeom prst="roundRect">
            <a:avLst>
              <a:gd name="adj" fmla="val 6000"/>
            </a:avLst>
          </a:prstGeom>
          <a:solidFill>
            <a:srgbClr val="EE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C1368-664C-3719-B828-301FC4AEF46C}"/>
              </a:ext>
            </a:extLst>
          </p:cNvPr>
          <p:cNvSpPr txBox="1"/>
          <p:nvPr/>
        </p:nvSpPr>
        <p:spPr>
          <a:xfrm>
            <a:off x="7416800" y="2387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500" b="1">
                <a:solidFill>
                  <a:srgbClr val="235C3A"/>
                </a:solidFill>
                <a:latin typeface="Calibri" panose="020F0502020204030204" pitchFamily="34" charset="0"/>
              </a:rPr>
              <a:t>Repository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C6BDD-D54D-9062-4DE7-1996757E0176}"/>
              </a:ext>
            </a:extLst>
          </p:cNvPr>
          <p:cNvSpPr txBox="1"/>
          <p:nvPr/>
        </p:nvSpPr>
        <p:spPr>
          <a:xfrm>
            <a:off x="7416800" y="2794000"/>
            <a:ext cx="3937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400">
                <a:solidFill>
                  <a:srgbClr val="3D8B5E"/>
                </a:solidFill>
                <a:latin typeface="Calibri" panose="020F0502020204030204" pitchFamily="34" charset="0"/>
              </a:rPr>
              <a:t>github.com/spindo44/Foodtrackr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BEBFD-A375-D38A-30FF-0B118343CCE5}"/>
              </a:ext>
            </a:extLst>
          </p:cNvPr>
          <p:cNvSpPr txBox="1"/>
          <p:nvPr/>
        </p:nvSpPr>
        <p:spPr>
          <a:xfrm>
            <a:off x="7416800" y="3251200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300">
                <a:solidFill>
                  <a:srgbClr val="6B7C6B"/>
                </a:solidFill>
                <a:latin typeface="Calibri" panose="020F0502020204030204" pitchFamily="34" charset="0"/>
              </a:rPr>
              <a:t>Live API on Render</a:t>
            </a:r>
          </a:p>
        </p:txBody>
      </p:sp>
    </p:spTree>
    <p:extLst>
      <p:ext uri="{BB962C8B-B14F-4D97-AF65-F5344CB8AC3E}">
        <p14:creationId xmlns:p14="http://schemas.microsoft.com/office/powerpoint/2010/main" val="1614560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E2BE1A0-6A10-BD81-CFA0-9A505FDE425F}"/>
              </a:ext>
            </a:extLst>
          </p:cNvPr>
          <p:cNvSpPr/>
          <p:nvPr/>
        </p:nvSpPr>
        <p:spPr>
          <a:xfrm>
            <a:off x="660400" y="584200"/>
            <a:ext cx="228600" cy="2286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A6767-5263-C71B-22FF-37AF1919DCA2}"/>
              </a:ext>
            </a:extLst>
          </p:cNvPr>
          <p:cNvSpPr txBox="1"/>
          <p:nvPr/>
        </p:nvSpPr>
        <p:spPr>
          <a:xfrm>
            <a:off x="1016000" y="48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800" b="1">
                <a:solidFill>
                  <a:srgbClr val="235C3A"/>
                </a:solidFill>
                <a:latin typeface="Calibri" panose="020F0502020204030204" pitchFamily="34" charset="0"/>
              </a:rPr>
              <a:t>What I'd improve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95333-44A6-5DCE-E9C0-F6E7A9A46BA7}"/>
              </a:ext>
            </a:extLst>
          </p:cNvPr>
          <p:cNvSpPr txBox="1"/>
          <p:nvPr/>
        </p:nvSpPr>
        <p:spPr>
          <a:xfrm>
            <a:off x="762000" y="1905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600"/>
              </a:spcAft>
            </a:pPr>
            <a:r>
              <a:rPr lang="en-NZ" sz="1900">
                <a:solidFill>
                  <a:srgbClr val="1A2E1A"/>
                </a:solidFill>
                <a:latin typeface="Calibri" panose="020F0502020204030204" pitchFamily="34" charset="0"/>
              </a:rPr>
              <a:t>•  Move secrets (JWT key, DB string) to env vars &amp; rotate</a:t>
            </a:r>
          </a:p>
          <a:p>
            <a:pPr>
              <a:spcAft>
                <a:spcPts val="1600"/>
              </a:spcAft>
            </a:pPr>
            <a:r>
              <a:rPr lang="en-NZ" sz="1900">
                <a:solidFill>
                  <a:srgbClr val="1A2E1A"/>
                </a:solidFill>
                <a:latin typeface="Calibri" panose="020F0502020204030204" pitchFamily="34" charset="0"/>
              </a:rPr>
              <a:t>•  Offline support / local caching</a:t>
            </a:r>
          </a:p>
          <a:p>
            <a:pPr>
              <a:spcAft>
                <a:spcPts val="1600"/>
              </a:spcAft>
            </a:pPr>
            <a:r>
              <a:rPr lang="en-NZ" sz="1900">
                <a:solidFill>
                  <a:srgbClr val="1A2E1A"/>
                </a:solidFill>
                <a:latin typeface="Calibri" panose="020F0502020204030204" pitchFamily="34" charset="0"/>
              </a:rPr>
              <a:t>•  Keep-alive to avoid Render cold starts</a:t>
            </a:r>
          </a:p>
          <a:p>
            <a:pPr>
              <a:spcAft>
                <a:spcPts val="1600"/>
              </a:spcAft>
            </a:pPr>
            <a:r>
              <a:rPr lang="en-NZ" sz="1900">
                <a:solidFill>
                  <a:srgbClr val="1A2E1A"/>
                </a:solidFill>
                <a:latin typeface="Calibri" panose="020F0502020204030204" pitchFamily="34" charset="0"/>
              </a:rPr>
              <a:t>•  Refactor duplicated models; optimise report queries</a:t>
            </a:r>
          </a:p>
          <a:p>
            <a:pPr>
              <a:spcAft>
                <a:spcPts val="1600"/>
              </a:spcAft>
            </a:pPr>
            <a:r>
              <a:rPr lang="en-NZ" sz="1900">
                <a:solidFill>
                  <a:srgbClr val="1A2E1A"/>
                </a:solidFill>
                <a:latin typeface="Calibri" panose="020F0502020204030204" pitchFamily="34" charset="0"/>
              </a:rPr>
              <a:t>•  Add UI tests for the MAUI pages</a:t>
            </a:r>
          </a:p>
        </p:txBody>
      </p:sp>
    </p:spTree>
    <p:extLst>
      <p:ext uri="{BB962C8B-B14F-4D97-AF65-F5344CB8AC3E}">
        <p14:creationId xmlns:p14="http://schemas.microsoft.com/office/powerpoint/2010/main" val="2892114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B4783F0-DD30-B065-D342-4B73D1CEDCDE}"/>
              </a:ext>
            </a:extLst>
          </p:cNvPr>
          <p:cNvSpPr/>
          <p:nvPr/>
        </p:nvSpPr>
        <p:spPr>
          <a:xfrm>
            <a:off x="762000" y="2222500"/>
            <a:ext cx="304800" cy="304800"/>
          </a:xfrm>
          <a:prstGeom prst="ellipse">
            <a:avLst/>
          </a:prstGeom>
          <a:solidFill>
            <a:srgbClr val="3D8B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C16B9-3090-D5DF-D0E0-A36DE6142DAD}"/>
              </a:ext>
            </a:extLst>
          </p:cNvPr>
          <p:cNvSpPr txBox="1"/>
          <p:nvPr/>
        </p:nvSpPr>
        <p:spPr>
          <a:xfrm>
            <a:off x="762000" y="24765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5600" b="1">
                <a:solidFill>
                  <a:srgbClr val="235C3A"/>
                </a:solidFill>
                <a:latin typeface="Calibri" panose="020F0502020204030204" pitchFamily="34" charset="0"/>
              </a:rPr>
              <a:t>Live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AFB7E-95D1-8169-A9AC-EAD331F9CFD1}"/>
              </a:ext>
            </a:extLst>
          </p:cNvPr>
          <p:cNvSpPr txBox="1"/>
          <p:nvPr/>
        </p:nvSpPr>
        <p:spPr>
          <a:xfrm>
            <a:off x="787400" y="3683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2600" dirty="0">
                <a:solidFill>
                  <a:srgbClr val="1A2E1A"/>
                </a:solidFill>
                <a:latin typeface="Calibri" panose="020F0502020204030204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5D83B-A374-534B-45D5-2FEA3641FE26}"/>
              </a:ext>
            </a:extLst>
          </p:cNvPr>
          <p:cNvSpPr txBox="1"/>
          <p:nvPr/>
        </p:nvSpPr>
        <p:spPr>
          <a:xfrm>
            <a:off x="787400" y="5969000"/>
            <a:ext cx="1041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NZ" sz="1500">
                <a:solidFill>
                  <a:srgbClr val="6B7C6B"/>
                </a:solidFill>
                <a:latin typeface="Calibri" panose="020F0502020204030204" pitchFamily="34" charset="0"/>
              </a:rPr>
              <a:t>foodtrackr.onrender.com   .   Taylor Kloss</a:t>
            </a:r>
          </a:p>
        </p:txBody>
      </p:sp>
    </p:spTree>
    <p:extLst>
      <p:ext uri="{BB962C8B-B14F-4D97-AF65-F5344CB8AC3E}">
        <p14:creationId xmlns:p14="http://schemas.microsoft.com/office/powerpoint/2010/main" val="128868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626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Kloss</dc:creator>
  <cp:lastModifiedBy>Taylor Kloss</cp:lastModifiedBy>
  <cp:revision>2</cp:revision>
  <dcterms:created xsi:type="dcterms:W3CDTF">2026-06-23T06:03:50Z</dcterms:created>
  <dcterms:modified xsi:type="dcterms:W3CDTF">2026-06-23T10:21:48Z</dcterms:modified>
</cp:coreProperties>
</file>